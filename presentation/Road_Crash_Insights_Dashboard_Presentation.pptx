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25" autoAdjust="0"/>
    <p:restoredTop sz="94684"/>
  </p:normalViewPr>
  <p:slideViewPr>
    <p:cSldViewPr snapToGrid="0">
      <p:cViewPr varScale="1">
        <p:scale>
          <a:sx n="81" d="100"/>
          <a:sy n="81" d="100"/>
        </p:scale>
        <p:origin x="165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en-US"/>
              <a:t>Click to edit Master title style</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6D0863-AC7B-4A2C-9142-6C4BCF71187A}" type="datetimeFigureOut">
              <a:rPr lang="en-US" smtClean="0"/>
              <a:t>6/17/25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2448293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6D0863-AC7B-4A2C-9142-6C4BCF71187A}" type="datetimeFigureOut">
              <a:rPr lang="en-US" smtClean="0"/>
              <a:t>6/17/25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1070851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en-US"/>
              <a:t>Click to edit Master title style</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tint val="82000"/>
                  </a:schemeClr>
                </a:solidFill>
              </a:defRPr>
            </a:lvl1pPr>
            <a:lvl2pPr marL="640080" indent="0">
              <a:buNone/>
              <a:defRPr sz="2800">
                <a:solidFill>
                  <a:schemeClr val="tx1">
                    <a:tint val="82000"/>
                  </a:schemeClr>
                </a:solidFill>
              </a:defRPr>
            </a:lvl2pPr>
            <a:lvl3pPr marL="1280160" indent="0">
              <a:buNone/>
              <a:defRPr sz="2520">
                <a:solidFill>
                  <a:schemeClr val="tx1">
                    <a:tint val="82000"/>
                  </a:schemeClr>
                </a:solidFill>
              </a:defRPr>
            </a:lvl3pPr>
            <a:lvl4pPr marL="1920240" indent="0">
              <a:buNone/>
              <a:defRPr sz="2240">
                <a:solidFill>
                  <a:schemeClr val="tx1">
                    <a:tint val="82000"/>
                  </a:schemeClr>
                </a:solidFill>
              </a:defRPr>
            </a:lvl4pPr>
            <a:lvl5pPr marL="2560320" indent="0">
              <a:buNone/>
              <a:defRPr sz="2240">
                <a:solidFill>
                  <a:schemeClr val="tx1">
                    <a:tint val="82000"/>
                  </a:schemeClr>
                </a:solidFill>
              </a:defRPr>
            </a:lvl5pPr>
            <a:lvl6pPr marL="3200400" indent="0">
              <a:buNone/>
              <a:defRPr sz="2240">
                <a:solidFill>
                  <a:schemeClr val="tx1">
                    <a:tint val="82000"/>
                  </a:schemeClr>
                </a:solidFill>
              </a:defRPr>
            </a:lvl6pPr>
            <a:lvl7pPr marL="3840480" indent="0">
              <a:buNone/>
              <a:defRPr sz="2240">
                <a:solidFill>
                  <a:schemeClr val="tx1">
                    <a:tint val="82000"/>
                  </a:schemeClr>
                </a:solidFill>
              </a:defRPr>
            </a:lvl7pPr>
            <a:lvl8pPr marL="4480560" indent="0">
              <a:buNone/>
              <a:defRPr sz="2240">
                <a:solidFill>
                  <a:schemeClr val="tx1">
                    <a:tint val="82000"/>
                  </a:schemeClr>
                </a:solidFill>
              </a:defRPr>
            </a:lvl8pPr>
            <a:lvl9pPr marL="5120640" indent="0">
              <a:buNone/>
              <a:defRPr sz="224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6D0863-AC7B-4A2C-9142-6C4BCF71187A}" type="datetimeFigureOut">
              <a:rPr lang="en-US" smtClean="0"/>
              <a:t>6/17/25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2205684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6D0863-AC7B-4A2C-9142-6C4BCF71187A}" type="datetimeFigureOut">
              <a:rPr lang="en-US" smtClean="0"/>
              <a:t>6/17/25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2577431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Click to edit Master text styles</a:t>
            </a:r>
          </a:p>
        </p:txBody>
      </p:sp>
      <p:sp>
        <p:nvSpPr>
          <p:cNvPr id="4" name="Content Placeholder 3"/>
          <p:cNvSpPr>
            <a:spLocks noGrp="1"/>
          </p:cNvSpPr>
          <p:nvPr>
            <p:ph sz="half" idx="2"/>
          </p:nvPr>
        </p:nvSpPr>
        <p:spPr>
          <a:xfrm>
            <a:off x="881779" y="3507105"/>
            <a:ext cx="5415676" cy="51584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Click to edit Master text styles</a:t>
            </a:r>
          </a:p>
        </p:txBody>
      </p:sp>
      <p:sp>
        <p:nvSpPr>
          <p:cNvPr id="6" name="Content Placeholder 5"/>
          <p:cNvSpPr>
            <a:spLocks noGrp="1"/>
          </p:cNvSpPr>
          <p:nvPr>
            <p:ph sz="quarter" idx="4"/>
          </p:nvPr>
        </p:nvSpPr>
        <p:spPr>
          <a:xfrm>
            <a:off x="6480811" y="3507105"/>
            <a:ext cx="5442347" cy="51584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D0863-AC7B-4A2C-9142-6C4BCF71187A}" type="datetimeFigureOut">
              <a:rPr lang="en-US" smtClean="0"/>
              <a:t>6/17/25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1729858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6D0863-AC7B-4A2C-9142-6C4BCF71187A}" type="datetimeFigureOut">
              <a:rPr lang="en-US" smtClean="0"/>
              <a:t>6/17/25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2874585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6D0863-AC7B-4A2C-9142-6C4BCF71187A}" type="datetimeFigureOut">
              <a:rPr lang="en-US" smtClean="0"/>
              <a:t>6/17/25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642812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Click to edit Master text styles</a:t>
            </a:r>
          </a:p>
        </p:txBody>
      </p:sp>
      <p:sp>
        <p:nvSpPr>
          <p:cNvPr id="5" name="Date Placeholder 4"/>
          <p:cNvSpPr>
            <a:spLocks noGrp="1"/>
          </p:cNvSpPr>
          <p:nvPr>
            <p:ph type="dt" sz="half" idx="10"/>
          </p:nvPr>
        </p:nvSpPr>
        <p:spPr/>
        <p:txBody>
          <a:bodyPr/>
          <a:lstStyle/>
          <a:p>
            <a:fld id="{026D0863-AC7B-4A2C-9142-6C4BCF71187A}" type="datetimeFigureOut">
              <a:rPr lang="en-US" smtClean="0"/>
              <a:t>6/17/25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306855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en-US"/>
              <a:t>Click icon to add picture</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Click to edit Master text styles</a:t>
            </a:r>
          </a:p>
        </p:txBody>
      </p:sp>
      <p:sp>
        <p:nvSpPr>
          <p:cNvPr id="5" name="Date Placeholder 4"/>
          <p:cNvSpPr>
            <a:spLocks noGrp="1"/>
          </p:cNvSpPr>
          <p:nvPr>
            <p:ph type="dt" sz="half" idx="10"/>
          </p:nvPr>
        </p:nvSpPr>
        <p:spPr/>
        <p:txBody>
          <a:bodyPr/>
          <a:lstStyle/>
          <a:p>
            <a:fld id="{026D0863-AC7B-4A2C-9142-6C4BCF71187A}" type="datetimeFigureOut">
              <a:rPr lang="en-US" smtClean="0"/>
              <a:t>6/17/25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16846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6D0863-AC7B-4A2C-9142-6C4BCF71187A}" type="datetimeFigureOut">
              <a:rPr lang="en-US" smtClean="0"/>
              <a:t>6/17/25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579650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6D0863-AC7B-4A2C-9142-6C4BCF71187A}" type="datetimeFigureOut">
              <a:rPr lang="en-US" smtClean="0"/>
              <a:t>6/17/25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3154-E415-49B8-84FA-D03F1B18DDF6}" type="slidenum">
              <a:rPr lang="en-US" smtClean="0"/>
              <a:t>‹#›</a:t>
            </a:fld>
            <a:endParaRPr lang="en-US"/>
          </a:p>
        </p:txBody>
      </p:sp>
    </p:spTree>
    <p:extLst>
      <p:ext uri="{BB962C8B-B14F-4D97-AF65-F5344CB8AC3E}">
        <p14:creationId xmlns:p14="http://schemas.microsoft.com/office/powerpoint/2010/main" val="3025554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82000"/>
                  </a:schemeClr>
                </a:solidFill>
              </a:defRPr>
            </a:lvl1pPr>
          </a:lstStyle>
          <a:p>
            <a:fld id="{026D0863-AC7B-4A2C-9142-6C4BCF71187A}" type="datetimeFigureOut">
              <a:rPr lang="en-US" smtClean="0"/>
              <a:t>6/17/25</a:t>
            </a:fld>
            <a:endParaRPr lang="en-US"/>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82000"/>
                  </a:schemeClr>
                </a:solidFill>
              </a:defRPr>
            </a:lvl1pPr>
          </a:lstStyle>
          <a:p>
            <a:fld id="{A0E13154-E415-49B8-84FA-D03F1B18DDF6}" type="slidenum">
              <a:rPr lang="en-US" smtClean="0"/>
              <a:t>‹#›</a:t>
            </a:fld>
            <a:endParaRPr lang="en-US"/>
          </a:p>
        </p:txBody>
      </p:sp>
    </p:spTree>
    <p:extLst>
      <p:ext uri="{BB962C8B-B14F-4D97-AF65-F5344CB8AC3E}">
        <p14:creationId xmlns:p14="http://schemas.microsoft.com/office/powerpoint/2010/main" val="22184295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datasets/oktayrdeki/traffic-accidents"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E1054-9288-BC66-C042-AFC96ABC6597}"/>
              </a:ext>
            </a:extLst>
          </p:cNvPr>
          <p:cNvSpPr>
            <a:spLocks noGrp="1"/>
          </p:cNvSpPr>
          <p:nvPr>
            <p:ph type="ctrTitle"/>
          </p:nvPr>
        </p:nvSpPr>
        <p:spPr>
          <a:xfrm>
            <a:off x="68826" y="27511"/>
            <a:ext cx="12654116" cy="879501"/>
          </a:xfrm>
          <a:solidFill>
            <a:schemeClr val="tx2">
              <a:lumMod val="25000"/>
              <a:lumOff val="75000"/>
            </a:schemeClr>
          </a:solidFill>
          <a:ln w="12700">
            <a:solidFill>
              <a:schemeClr val="tx2">
                <a:lumMod val="75000"/>
                <a:lumOff val="25000"/>
              </a:schemeClr>
            </a:solidFill>
          </a:ln>
        </p:spPr>
        <p:txBody>
          <a:bodyPr>
            <a:noAutofit/>
          </a:bodyPr>
          <a:lstStyle/>
          <a:p>
            <a:r>
              <a:rPr lang="en-US" sz="2800" b="1" dirty="0">
                <a:solidFill>
                  <a:schemeClr val="tx2"/>
                </a:solidFill>
              </a:rPr>
              <a:t>Road Crash Insights Dashboard – Enhancing Road Safety with Data-Driven Decisions</a:t>
            </a:r>
          </a:p>
        </p:txBody>
      </p:sp>
      <p:sp>
        <p:nvSpPr>
          <p:cNvPr id="5" name="TextBox 4">
            <a:extLst>
              <a:ext uri="{FF2B5EF4-FFF2-40B4-BE49-F238E27FC236}">
                <a16:creationId xmlns:a16="http://schemas.microsoft.com/office/drawing/2014/main" id="{2FB651EF-9000-F75C-1872-E97EA3757E00}"/>
              </a:ext>
            </a:extLst>
          </p:cNvPr>
          <p:cNvSpPr txBox="1"/>
          <p:nvPr/>
        </p:nvSpPr>
        <p:spPr>
          <a:xfrm>
            <a:off x="68826" y="8640787"/>
            <a:ext cx="3857701" cy="830997"/>
          </a:xfrm>
          <a:prstGeom prst="rect">
            <a:avLst/>
          </a:prstGeom>
          <a:noFill/>
        </p:spPr>
        <p:txBody>
          <a:bodyPr wrap="square" rtlCol="0">
            <a:spAutoFit/>
          </a:bodyPr>
          <a:lstStyle/>
          <a:p>
            <a:r>
              <a:rPr lang="en-US" sz="1200" i="1" dirty="0"/>
              <a:t>A D Savith Rangana – Student ID: 2024003716</a:t>
            </a:r>
            <a:br>
              <a:rPr lang="en-US" sz="1200" dirty="0"/>
            </a:br>
            <a:r>
              <a:rPr lang="en-US" sz="1200" dirty="0"/>
              <a:t>PGDAV8.100 – Data Analytics and </a:t>
            </a:r>
            <a:r>
              <a:rPr lang="en-US" sz="1200" dirty="0" err="1"/>
              <a:t>Visualisation</a:t>
            </a:r>
            <a:r>
              <a:rPr lang="en-US" sz="1200" dirty="0"/>
              <a:t>, Eastern Institute of Technology</a:t>
            </a:r>
            <a:br>
              <a:rPr lang="en-US" sz="1200" dirty="0"/>
            </a:br>
            <a:r>
              <a:rPr lang="en-US" sz="1200" dirty="0"/>
              <a:t>Lecturer: Dr. Farhad </a:t>
            </a:r>
            <a:r>
              <a:rPr lang="en-US" sz="1200" dirty="0" err="1"/>
              <a:t>Mehdipour</a:t>
            </a:r>
            <a:endParaRPr lang="en-US" sz="1200" dirty="0"/>
          </a:p>
        </p:txBody>
      </p:sp>
      <p:pic>
        <p:nvPicPr>
          <p:cNvPr id="8" name="Picture 7" descr="A screenshot of a graph&#10;&#10;AI-generated content may be incorrect.">
            <a:extLst>
              <a:ext uri="{FF2B5EF4-FFF2-40B4-BE49-F238E27FC236}">
                <a16:creationId xmlns:a16="http://schemas.microsoft.com/office/drawing/2014/main" id="{562E3687-0888-E4A4-114E-BCC54CABD4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5779" y="4925392"/>
            <a:ext cx="4780207" cy="2714273"/>
          </a:xfrm>
          <a:prstGeom prst="rect">
            <a:avLst/>
          </a:prstGeom>
        </p:spPr>
      </p:pic>
      <p:sp>
        <p:nvSpPr>
          <p:cNvPr id="9" name="TextBox 8">
            <a:extLst>
              <a:ext uri="{FF2B5EF4-FFF2-40B4-BE49-F238E27FC236}">
                <a16:creationId xmlns:a16="http://schemas.microsoft.com/office/drawing/2014/main" id="{19A53C84-297F-B265-82F7-816DB7D1172B}"/>
              </a:ext>
            </a:extLst>
          </p:cNvPr>
          <p:cNvSpPr txBox="1"/>
          <p:nvPr/>
        </p:nvSpPr>
        <p:spPr>
          <a:xfrm>
            <a:off x="68826" y="6427809"/>
            <a:ext cx="3857701" cy="338554"/>
          </a:xfrm>
          <a:prstGeom prst="rect">
            <a:avLst/>
          </a:prstGeom>
          <a:solidFill>
            <a:schemeClr val="tx2">
              <a:lumMod val="25000"/>
              <a:lumOff val="75000"/>
            </a:schemeClr>
          </a:solidFill>
          <a:ln w="6350">
            <a:solidFill>
              <a:schemeClr val="tx1"/>
            </a:solidFill>
          </a:ln>
        </p:spPr>
        <p:txBody>
          <a:bodyPr wrap="square" rtlCol="0">
            <a:spAutoFit/>
          </a:bodyPr>
          <a:lstStyle/>
          <a:p>
            <a:pPr algn="ctr"/>
            <a:r>
              <a:rPr lang="en-US" sz="1600" b="1" dirty="0"/>
              <a:t>Data Wrangling &amp; EDA</a:t>
            </a:r>
          </a:p>
        </p:txBody>
      </p:sp>
      <p:sp>
        <p:nvSpPr>
          <p:cNvPr id="10" name="TextBox 9">
            <a:extLst>
              <a:ext uri="{FF2B5EF4-FFF2-40B4-BE49-F238E27FC236}">
                <a16:creationId xmlns:a16="http://schemas.microsoft.com/office/drawing/2014/main" id="{3C9FF658-3380-7401-345D-8DB30DEE9CFB}"/>
              </a:ext>
            </a:extLst>
          </p:cNvPr>
          <p:cNvSpPr txBox="1"/>
          <p:nvPr/>
        </p:nvSpPr>
        <p:spPr>
          <a:xfrm>
            <a:off x="68828" y="1488516"/>
            <a:ext cx="3857701" cy="1384995"/>
          </a:xfrm>
          <a:prstGeom prst="rect">
            <a:avLst/>
          </a:prstGeom>
          <a:noFill/>
          <a:ln w="3175">
            <a:solidFill>
              <a:schemeClr val="tx1"/>
            </a:solidFill>
          </a:ln>
        </p:spPr>
        <p:txBody>
          <a:bodyPr wrap="square" rtlCol="0">
            <a:spAutoFit/>
          </a:bodyPr>
          <a:lstStyle/>
          <a:p>
            <a:r>
              <a:rPr lang="en-US" sz="1200" dirty="0"/>
              <a:t>Road accidents cause significant loss of life and property in urban environments. City authorities, such as those following Wellington’s Road to Zero strategy, aim to reduce fatalities and serious injuries by 40% by 2030. However, the ability to proactively deploy road safety interventions depends on identifying high-risk conditions and crash patterns.</a:t>
            </a:r>
          </a:p>
        </p:txBody>
      </p:sp>
      <p:sp>
        <p:nvSpPr>
          <p:cNvPr id="11" name="TextBox 10">
            <a:extLst>
              <a:ext uri="{FF2B5EF4-FFF2-40B4-BE49-F238E27FC236}">
                <a16:creationId xmlns:a16="http://schemas.microsoft.com/office/drawing/2014/main" id="{03E7F241-ABD4-D564-CCB1-A380D6C081F0}"/>
              </a:ext>
            </a:extLst>
          </p:cNvPr>
          <p:cNvSpPr txBox="1"/>
          <p:nvPr/>
        </p:nvSpPr>
        <p:spPr>
          <a:xfrm>
            <a:off x="4010697" y="1102676"/>
            <a:ext cx="4780205" cy="338554"/>
          </a:xfrm>
          <a:prstGeom prst="rect">
            <a:avLst/>
          </a:prstGeom>
          <a:solidFill>
            <a:schemeClr val="tx2">
              <a:lumMod val="25000"/>
              <a:lumOff val="75000"/>
            </a:schemeClr>
          </a:solidFill>
          <a:ln w="6350">
            <a:solidFill>
              <a:schemeClr val="tx1"/>
            </a:solidFill>
          </a:ln>
        </p:spPr>
        <p:txBody>
          <a:bodyPr wrap="square" rtlCol="0">
            <a:spAutoFit/>
          </a:bodyPr>
          <a:lstStyle/>
          <a:p>
            <a:pPr algn="ctr"/>
            <a:r>
              <a:rPr lang="en-US" sz="1600" b="1" dirty="0"/>
              <a:t>Data Product Design</a:t>
            </a:r>
          </a:p>
        </p:txBody>
      </p:sp>
      <p:sp>
        <p:nvSpPr>
          <p:cNvPr id="12" name="TextBox 11">
            <a:extLst>
              <a:ext uri="{FF2B5EF4-FFF2-40B4-BE49-F238E27FC236}">
                <a16:creationId xmlns:a16="http://schemas.microsoft.com/office/drawing/2014/main" id="{E1C18AAA-20DF-B8F7-7B9A-FD55A770C9A4}"/>
              </a:ext>
            </a:extLst>
          </p:cNvPr>
          <p:cNvSpPr txBox="1"/>
          <p:nvPr/>
        </p:nvSpPr>
        <p:spPr>
          <a:xfrm>
            <a:off x="68828" y="1102676"/>
            <a:ext cx="3857701" cy="338554"/>
          </a:xfrm>
          <a:prstGeom prst="rect">
            <a:avLst/>
          </a:prstGeom>
          <a:solidFill>
            <a:schemeClr val="tx2">
              <a:lumMod val="25000"/>
              <a:lumOff val="75000"/>
            </a:schemeClr>
          </a:solidFill>
          <a:ln w="6350">
            <a:solidFill>
              <a:schemeClr val="tx1"/>
            </a:solidFill>
          </a:ln>
        </p:spPr>
        <p:txBody>
          <a:bodyPr wrap="square" rtlCol="0">
            <a:spAutoFit/>
          </a:bodyPr>
          <a:lstStyle/>
          <a:p>
            <a:pPr algn="ctr"/>
            <a:r>
              <a:rPr lang="en-US" sz="1600" b="1" dirty="0"/>
              <a:t>Business Problem</a:t>
            </a:r>
          </a:p>
        </p:txBody>
      </p:sp>
      <p:sp>
        <p:nvSpPr>
          <p:cNvPr id="13" name="TextBox 12">
            <a:extLst>
              <a:ext uri="{FF2B5EF4-FFF2-40B4-BE49-F238E27FC236}">
                <a16:creationId xmlns:a16="http://schemas.microsoft.com/office/drawing/2014/main" id="{967BE28C-C54C-FF2D-F46E-8F2F34FDBA58}"/>
              </a:ext>
            </a:extLst>
          </p:cNvPr>
          <p:cNvSpPr txBox="1"/>
          <p:nvPr/>
        </p:nvSpPr>
        <p:spPr>
          <a:xfrm>
            <a:off x="68828" y="2945556"/>
            <a:ext cx="3857701" cy="338554"/>
          </a:xfrm>
          <a:prstGeom prst="rect">
            <a:avLst/>
          </a:prstGeom>
          <a:solidFill>
            <a:schemeClr val="tx2">
              <a:lumMod val="25000"/>
              <a:lumOff val="75000"/>
            </a:schemeClr>
          </a:solidFill>
          <a:ln w="6350">
            <a:solidFill>
              <a:schemeClr val="tx1"/>
            </a:solidFill>
          </a:ln>
        </p:spPr>
        <p:txBody>
          <a:bodyPr wrap="square" rtlCol="0">
            <a:spAutoFit/>
          </a:bodyPr>
          <a:lstStyle/>
          <a:p>
            <a:pPr algn="ctr"/>
            <a:r>
              <a:rPr lang="en-US" sz="1600" b="1" dirty="0"/>
              <a:t>Research Questions</a:t>
            </a:r>
          </a:p>
        </p:txBody>
      </p:sp>
      <p:sp>
        <p:nvSpPr>
          <p:cNvPr id="15" name="TextBox 14">
            <a:extLst>
              <a:ext uri="{FF2B5EF4-FFF2-40B4-BE49-F238E27FC236}">
                <a16:creationId xmlns:a16="http://schemas.microsoft.com/office/drawing/2014/main" id="{AE06E556-D0AE-6D8C-1C22-B6783E595191}"/>
              </a:ext>
            </a:extLst>
          </p:cNvPr>
          <p:cNvSpPr txBox="1"/>
          <p:nvPr/>
        </p:nvSpPr>
        <p:spPr>
          <a:xfrm>
            <a:off x="68827" y="3326661"/>
            <a:ext cx="3857701" cy="1384995"/>
          </a:xfrm>
          <a:prstGeom prst="rect">
            <a:avLst/>
          </a:prstGeom>
          <a:noFill/>
          <a:ln w="3175">
            <a:solidFill>
              <a:schemeClr val="tx1"/>
            </a:solidFill>
          </a:ln>
        </p:spPr>
        <p:txBody>
          <a:bodyPr wrap="square" rtlCol="0">
            <a:spAutoFit/>
          </a:bodyPr>
          <a:lstStyle/>
          <a:p>
            <a:r>
              <a:rPr lang="en-US" sz="1200" dirty="0"/>
              <a:t>This project sought to answer:</a:t>
            </a:r>
          </a:p>
          <a:p>
            <a:pPr marL="171450" indent="-171450">
              <a:buFont typeface="Arial" panose="020B0604020202020204" pitchFamily="34" charset="0"/>
              <a:buChar char="•"/>
            </a:pPr>
            <a:r>
              <a:rPr lang="en-US" sz="1200" dirty="0"/>
              <a:t>What conditions increase the likelihood of fatal or severe crashes?</a:t>
            </a:r>
          </a:p>
          <a:p>
            <a:pPr marL="171450" indent="-171450">
              <a:buFont typeface="Arial" panose="020B0604020202020204" pitchFamily="34" charset="0"/>
              <a:buChar char="•"/>
            </a:pPr>
            <a:r>
              <a:rPr lang="en-US" sz="1200" dirty="0"/>
              <a:t>Are crashes more severe at night or in wet weather?</a:t>
            </a:r>
          </a:p>
          <a:p>
            <a:pPr marL="171450" indent="-171450">
              <a:buFont typeface="Arial" panose="020B0604020202020204" pitchFamily="34" charset="0"/>
              <a:buChar char="•"/>
            </a:pPr>
            <a:r>
              <a:rPr lang="en-US" sz="1200" dirty="0"/>
              <a:t>Which day-hour combinations pose the highest risk?</a:t>
            </a:r>
          </a:p>
          <a:p>
            <a:pPr marL="171450" indent="-171450">
              <a:buFont typeface="Arial" panose="020B0604020202020204" pitchFamily="34" charset="0"/>
              <a:buChar char="•"/>
            </a:pPr>
            <a:r>
              <a:rPr lang="en-US" sz="1200" dirty="0"/>
              <a:t>Do multi-vehicle crashes lead to greater harm?</a:t>
            </a:r>
          </a:p>
          <a:p>
            <a:pPr marL="171450" indent="-171450">
              <a:buFont typeface="Arial" panose="020B0604020202020204" pitchFamily="34" charset="0"/>
              <a:buChar char="•"/>
            </a:pPr>
            <a:r>
              <a:rPr lang="en-US" sz="1200" dirty="0"/>
              <a:t>Can crash volumes be forecasted to inform planning?</a:t>
            </a:r>
          </a:p>
        </p:txBody>
      </p:sp>
      <p:sp>
        <p:nvSpPr>
          <p:cNvPr id="16" name="TextBox 15">
            <a:extLst>
              <a:ext uri="{FF2B5EF4-FFF2-40B4-BE49-F238E27FC236}">
                <a16:creationId xmlns:a16="http://schemas.microsoft.com/office/drawing/2014/main" id="{7DB54E0E-EDDB-F1B9-5CD4-26929C79DAF7}"/>
              </a:ext>
            </a:extLst>
          </p:cNvPr>
          <p:cNvSpPr txBox="1"/>
          <p:nvPr/>
        </p:nvSpPr>
        <p:spPr>
          <a:xfrm>
            <a:off x="68826" y="5161370"/>
            <a:ext cx="3857701" cy="1200329"/>
          </a:xfrm>
          <a:prstGeom prst="rect">
            <a:avLst/>
          </a:prstGeom>
          <a:noFill/>
          <a:ln w="3175">
            <a:solidFill>
              <a:schemeClr val="tx1"/>
            </a:solidFill>
          </a:ln>
        </p:spPr>
        <p:txBody>
          <a:bodyPr wrap="square" rtlCol="0">
            <a:spAutoFit/>
          </a:bodyPr>
          <a:lstStyle/>
          <a:p>
            <a:pPr marL="171450" indent="-171450">
              <a:buFont typeface="Arial" panose="020B0604020202020204" pitchFamily="34" charset="0"/>
              <a:buChar char="•"/>
            </a:pPr>
            <a:r>
              <a:rPr lang="en-US" sz="1200" dirty="0"/>
              <a:t>Source: Kaggle (</a:t>
            </a:r>
            <a:r>
              <a:rPr lang="en-US" sz="1200" dirty="0" err="1"/>
              <a:t>Ördekçi</a:t>
            </a:r>
            <a:r>
              <a:rPr lang="en-US" sz="1200" dirty="0"/>
              <a:t>, 2025)</a:t>
            </a:r>
          </a:p>
          <a:p>
            <a:pPr marL="171450" indent="-171450">
              <a:buFont typeface="Arial" panose="020B0604020202020204" pitchFamily="34" charset="0"/>
              <a:buChar char="•"/>
            </a:pPr>
            <a:r>
              <a:rPr lang="en-US" sz="1200" dirty="0"/>
              <a:t>Records: 209,000+ traffic crashes</a:t>
            </a:r>
          </a:p>
          <a:p>
            <a:pPr marL="171450" indent="-171450">
              <a:buFont typeface="Arial" panose="020B0604020202020204" pitchFamily="34" charset="0"/>
              <a:buChar char="•"/>
            </a:pPr>
            <a:r>
              <a:rPr lang="en-US" sz="1200" dirty="0"/>
              <a:t>Fields: Crash date/time, weather, lighting, severity, number of vehicles, etc.</a:t>
            </a:r>
          </a:p>
          <a:p>
            <a:pPr marL="171450" indent="-171450">
              <a:buFont typeface="Arial" panose="020B0604020202020204" pitchFamily="34" charset="0"/>
              <a:buChar char="•"/>
            </a:pPr>
            <a:r>
              <a:rPr lang="en-US" sz="1200" dirty="0"/>
              <a:t>Tools Used: R for wrangling, Power BI for dashboard creation</a:t>
            </a:r>
          </a:p>
        </p:txBody>
      </p:sp>
      <p:sp>
        <p:nvSpPr>
          <p:cNvPr id="17" name="TextBox 16">
            <a:extLst>
              <a:ext uri="{FF2B5EF4-FFF2-40B4-BE49-F238E27FC236}">
                <a16:creationId xmlns:a16="http://schemas.microsoft.com/office/drawing/2014/main" id="{C04FFC7A-D7AF-2951-1E38-25EDA8A5D5A6}"/>
              </a:ext>
            </a:extLst>
          </p:cNvPr>
          <p:cNvSpPr txBox="1"/>
          <p:nvPr/>
        </p:nvSpPr>
        <p:spPr>
          <a:xfrm>
            <a:off x="68826" y="4780954"/>
            <a:ext cx="3857701" cy="338554"/>
          </a:xfrm>
          <a:prstGeom prst="rect">
            <a:avLst/>
          </a:prstGeom>
          <a:solidFill>
            <a:schemeClr val="tx2">
              <a:lumMod val="25000"/>
              <a:lumOff val="75000"/>
            </a:schemeClr>
          </a:solidFill>
          <a:ln w="6350">
            <a:solidFill>
              <a:schemeClr val="tx1"/>
            </a:solidFill>
          </a:ln>
        </p:spPr>
        <p:txBody>
          <a:bodyPr wrap="square" rtlCol="0">
            <a:spAutoFit/>
          </a:bodyPr>
          <a:lstStyle/>
          <a:p>
            <a:pPr algn="ctr"/>
            <a:r>
              <a:rPr lang="en-US" sz="1600" b="1" dirty="0"/>
              <a:t>Dataset</a:t>
            </a:r>
          </a:p>
        </p:txBody>
      </p:sp>
      <p:sp>
        <p:nvSpPr>
          <p:cNvPr id="20" name="Rectangle 2">
            <a:extLst>
              <a:ext uri="{FF2B5EF4-FFF2-40B4-BE49-F238E27FC236}">
                <a16:creationId xmlns:a16="http://schemas.microsoft.com/office/drawing/2014/main" id="{578F94F2-AF50-4497-A4E9-B31147B3DCB6}"/>
              </a:ext>
            </a:extLst>
          </p:cNvPr>
          <p:cNvSpPr>
            <a:spLocks noChangeArrowheads="1"/>
          </p:cNvSpPr>
          <p:nvPr/>
        </p:nvSpPr>
        <p:spPr bwMode="auto">
          <a:xfrm>
            <a:off x="68826" y="6811729"/>
            <a:ext cx="3857701" cy="156966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defTabSz="91440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Cleaned and transformed data in R (removed NA, created new columns).</a:t>
            </a:r>
          </a:p>
          <a:p>
            <a:pPr marL="171450" indent="-171450" defTabSz="91440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Added derived variables: </a:t>
            </a:r>
            <a:r>
              <a:rPr lang="en-US" altLang="en-US" sz="1200" dirty="0">
                <a:latin typeface="Arial Unicode MS"/>
              </a:rPr>
              <a:t>hour</a:t>
            </a:r>
            <a:r>
              <a:rPr lang="en-US" altLang="en-US" sz="1200" dirty="0"/>
              <a:t>, </a:t>
            </a:r>
            <a:r>
              <a:rPr lang="en-US" altLang="en-US" sz="1200" dirty="0">
                <a:latin typeface="Arial Unicode MS"/>
              </a:rPr>
              <a:t>severity level</a:t>
            </a:r>
            <a:r>
              <a:rPr lang="en-US" altLang="en-US" sz="1200" dirty="0"/>
              <a:t>, </a:t>
            </a:r>
            <a:r>
              <a:rPr lang="en-US" altLang="en-US" sz="1200" dirty="0" err="1">
                <a:latin typeface="Arial Unicode MS"/>
              </a:rPr>
              <a:t>is_night</a:t>
            </a:r>
            <a:r>
              <a:rPr lang="en-US" altLang="en-US" sz="1200" dirty="0"/>
              <a:t>, </a:t>
            </a:r>
            <a:r>
              <a:rPr lang="en-US" altLang="en-US" sz="1200" dirty="0" err="1">
                <a:latin typeface="Arial Unicode MS"/>
              </a:rPr>
              <a:t>is_weekend</a:t>
            </a:r>
            <a:r>
              <a:rPr lang="en-US" altLang="en-US" sz="1200" dirty="0">
                <a:latin typeface="Arial Unicode MS"/>
              </a:rPr>
              <a:t>.</a:t>
            </a:r>
            <a:endParaRPr lang="en-US" altLang="en-US" sz="1200" dirty="0"/>
          </a:p>
          <a:p>
            <a:pPr marL="171450" indent="-171450" defTabSz="91440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Exploratory Data Analysis revealed:</a:t>
            </a:r>
          </a:p>
          <a:p>
            <a:pPr lvl="1" eaLnBrk="0" fontAlgn="base" hangingPunct="0">
              <a:spcBef>
                <a:spcPct val="0"/>
              </a:spcBef>
              <a:spcAft>
                <a:spcPct val="0"/>
              </a:spcAft>
            </a:pPr>
            <a:r>
              <a:rPr lang="en-US" altLang="en-US" sz="1200" i="1" dirty="0">
                <a:latin typeface="Arial" panose="020B0604020202020204" pitchFamily="34" charset="0"/>
              </a:rPr>
              <a:t>Fatal crashes peak during wet weekend nights.</a:t>
            </a:r>
          </a:p>
          <a:p>
            <a:pPr lvl="1" eaLnBrk="0" fontAlgn="base" hangingPunct="0">
              <a:spcBef>
                <a:spcPct val="0"/>
              </a:spcBef>
              <a:spcAft>
                <a:spcPct val="0"/>
              </a:spcAft>
            </a:pPr>
            <a:r>
              <a:rPr lang="en-US" altLang="en-US" sz="1200" i="1" dirty="0">
                <a:latin typeface="Arial" panose="020B0604020202020204" pitchFamily="34" charset="0"/>
              </a:rPr>
              <a:t>Single-vehicle crashes are often more severe.</a:t>
            </a:r>
          </a:p>
          <a:p>
            <a:pPr lvl="1" eaLnBrk="0" fontAlgn="base" hangingPunct="0">
              <a:spcBef>
                <a:spcPct val="0"/>
              </a:spcBef>
              <a:spcAft>
                <a:spcPct val="0"/>
              </a:spcAft>
            </a:pPr>
            <a:r>
              <a:rPr lang="en-US" altLang="en-US" sz="1200" i="1" dirty="0">
                <a:latin typeface="Arial" panose="020B0604020202020204" pitchFamily="34" charset="0"/>
              </a:rPr>
              <a:t>Weekends show higher crash rates post 8PM</a:t>
            </a:r>
            <a:r>
              <a:rPr lang="en-US" altLang="en-US" sz="1200" dirty="0">
                <a:latin typeface="Arial" panose="020B0604020202020204" pitchFamily="34" charset="0"/>
              </a:rPr>
              <a:t>.</a:t>
            </a:r>
          </a:p>
        </p:txBody>
      </p:sp>
      <p:sp>
        <p:nvSpPr>
          <p:cNvPr id="21" name="TextBox 20">
            <a:extLst>
              <a:ext uri="{FF2B5EF4-FFF2-40B4-BE49-F238E27FC236}">
                <a16:creationId xmlns:a16="http://schemas.microsoft.com/office/drawing/2014/main" id="{1352AFDB-B147-48E1-A526-97D7A042FD34}"/>
              </a:ext>
            </a:extLst>
          </p:cNvPr>
          <p:cNvSpPr txBox="1"/>
          <p:nvPr/>
        </p:nvSpPr>
        <p:spPr>
          <a:xfrm>
            <a:off x="4005781" y="1488516"/>
            <a:ext cx="4780205" cy="3416320"/>
          </a:xfrm>
          <a:prstGeom prst="rect">
            <a:avLst/>
          </a:prstGeom>
          <a:noFill/>
          <a:ln w="3175">
            <a:solidFill>
              <a:schemeClr val="tx1"/>
            </a:solidFill>
          </a:ln>
        </p:spPr>
        <p:txBody>
          <a:bodyPr wrap="square" rtlCol="0">
            <a:spAutoFit/>
          </a:bodyPr>
          <a:lstStyle/>
          <a:p>
            <a:r>
              <a:rPr lang="en-US" sz="1200" dirty="0"/>
              <a:t>A </a:t>
            </a:r>
            <a:r>
              <a:rPr lang="en-US" sz="1200" b="1" dirty="0"/>
              <a:t>Power BI dashboard</a:t>
            </a:r>
            <a:r>
              <a:rPr lang="en-US" sz="1200" dirty="0"/>
              <a:t> was developed to visualize and interact with over 160,000 traffic crash records. The dashboard integrates slicers for crash severity, weather, lighting, time of day, and vehicle count, enabling users to filter and explore insights easily.</a:t>
            </a:r>
          </a:p>
          <a:p>
            <a:r>
              <a:rPr lang="en-US" sz="1200" b="1" dirty="0"/>
              <a:t>Key components:</a:t>
            </a:r>
            <a:endParaRPr lang="en-US" sz="1200" dirty="0"/>
          </a:p>
          <a:p>
            <a:pPr marL="171450" indent="-171450">
              <a:buFont typeface="Arial" panose="020B0604020202020204" pitchFamily="34" charset="0"/>
              <a:buChar char="•"/>
            </a:pPr>
            <a:r>
              <a:rPr lang="en-US" sz="1200" b="1" dirty="0"/>
              <a:t>KPI Cards</a:t>
            </a:r>
            <a:r>
              <a:rPr lang="en-US" sz="1200" dirty="0"/>
              <a:t>: Show total crashes, high-harm crashes, harm rate, and peak crash hour.</a:t>
            </a:r>
          </a:p>
          <a:p>
            <a:pPr marL="171450" indent="-171450">
              <a:buFont typeface="Arial" panose="020B0604020202020204" pitchFamily="34" charset="0"/>
              <a:buChar char="•"/>
            </a:pPr>
            <a:r>
              <a:rPr lang="en-US" sz="1200" b="1" dirty="0"/>
              <a:t>Crash Trend by Hour</a:t>
            </a:r>
            <a:r>
              <a:rPr lang="en-US" sz="1200" dirty="0"/>
              <a:t>: Highlights when crash volumes and harm rates peak.</a:t>
            </a:r>
          </a:p>
          <a:p>
            <a:pPr marL="171450" indent="-171450">
              <a:buFont typeface="Arial" panose="020B0604020202020204" pitchFamily="34" charset="0"/>
              <a:buChar char="•"/>
            </a:pPr>
            <a:r>
              <a:rPr lang="en-US" sz="1200" b="1" dirty="0"/>
              <a:t>Crash Severity by Weather</a:t>
            </a:r>
            <a:r>
              <a:rPr lang="en-US" sz="1200" dirty="0"/>
              <a:t>: Demonstrates increased risk during rain and low-visibility conditions.</a:t>
            </a:r>
          </a:p>
          <a:p>
            <a:pPr marL="171450" indent="-171450">
              <a:buFont typeface="Arial" panose="020B0604020202020204" pitchFamily="34" charset="0"/>
              <a:buChar char="•"/>
            </a:pPr>
            <a:r>
              <a:rPr lang="en-US" sz="1200" b="1" dirty="0"/>
              <a:t>Crash Count by Day</a:t>
            </a:r>
            <a:r>
              <a:rPr lang="en-US" sz="1200" dirty="0"/>
              <a:t>: Reveals weekday vs. weekend variations.</a:t>
            </a:r>
          </a:p>
          <a:p>
            <a:pPr marL="171450" indent="-171450">
              <a:buFont typeface="Arial" panose="020B0604020202020204" pitchFamily="34" charset="0"/>
              <a:buChar char="•"/>
            </a:pPr>
            <a:r>
              <a:rPr lang="en-US" sz="1200" b="1" dirty="0"/>
              <a:t>Severity by Vehicle Count</a:t>
            </a:r>
            <a:r>
              <a:rPr lang="en-US" sz="1200" dirty="0"/>
              <a:t>: Shows single-vehicle crashes often cause greater harm.</a:t>
            </a:r>
          </a:p>
          <a:p>
            <a:pPr marL="171450" indent="-171450">
              <a:buFont typeface="Arial" panose="020B0604020202020204" pitchFamily="34" charset="0"/>
              <a:buChar char="•"/>
            </a:pPr>
            <a:r>
              <a:rPr lang="en-US" sz="1200" b="1" dirty="0"/>
              <a:t>Crash Density Heatmap</a:t>
            </a:r>
            <a:r>
              <a:rPr lang="en-US" sz="1200" dirty="0"/>
              <a:t>: Displays dangerous combinations of day and hour.</a:t>
            </a:r>
          </a:p>
          <a:p>
            <a:pPr marL="171450" indent="-171450">
              <a:buFont typeface="Arial" panose="020B0604020202020204" pitchFamily="34" charset="0"/>
              <a:buChar char="•"/>
            </a:pPr>
            <a:r>
              <a:rPr lang="en-US" sz="1200" b="1" dirty="0"/>
              <a:t>Crash Forecast</a:t>
            </a:r>
            <a:r>
              <a:rPr lang="en-US" sz="1200" dirty="0"/>
              <a:t>: Projects crash volume trends to support planning decisions.</a:t>
            </a:r>
          </a:p>
        </p:txBody>
      </p:sp>
      <p:sp>
        <p:nvSpPr>
          <p:cNvPr id="22" name="TextBox 21">
            <a:extLst>
              <a:ext uri="{FF2B5EF4-FFF2-40B4-BE49-F238E27FC236}">
                <a16:creationId xmlns:a16="http://schemas.microsoft.com/office/drawing/2014/main" id="{6C62EDD0-FF5D-8D97-9D84-34B61CFC2BBD}"/>
              </a:ext>
            </a:extLst>
          </p:cNvPr>
          <p:cNvSpPr txBox="1"/>
          <p:nvPr/>
        </p:nvSpPr>
        <p:spPr>
          <a:xfrm>
            <a:off x="8875071" y="1102676"/>
            <a:ext cx="3857701" cy="338554"/>
          </a:xfrm>
          <a:prstGeom prst="rect">
            <a:avLst/>
          </a:prstGeom>
          <a:solidFill>
            <a:schemeClr val="tx2">
              <a:lumMod val="25000"/>
              <a:lumOff val="75000"/>
            </a:schemeClr>
          </a:solidFill>
          <a:ln w="6350">
            <a:solidFill>
              <a:schemeClr val="tx1"/>
            </a:solidFill>
          </a:ln>
        </p:spPr>
        <p:txBody>
          <a:bodyPr wrap="square" rtlCol="0">
            <a:spAutoFit/>
          </a:bodyPr>
          <a:lstStyle/>
          <a:p>
            <a:pPr algn="ctr"/>
            <a:r>
              <a:rPr lang="en-US" sz="1600" b="1" dirty="0"/>
              <a:t>Target Users &amp; Value</a:t>
            </a:r>
          </a:p>
        </p:txBody>
      </p:sp>
      <p:sp>
        <p:nvSpPr>
          <p:cNvPr id="23" name="TextBox 22">
            <a:extLst>
              <a:ext uri="{FF2B5EF4-FFF2-40B4-BE49-F238E27FC236}">
                <a16:creationId xmlns:a16="http://schemas.microsoft.com/office/drawing/2014/main" id="{9424C6A8-5698-65A2-A22C-0E2042F2D695}"/>
              </a:ext>
            </a:extLst>
          </p:cNvPr>
          <p:cNvSpPr txBox="1"/>
          <p:nvPr/>
        </p:nvSpPr>
        <p:spPr>
          <a:xfrm>
            <a:off x="8875071" y="1488516"/>
            <a:ext cx="3847871" cy="2031325"/>
          </a:xfrm>
          <a:prstGeom prst="rect">
            <a:avLst/>
          </a:prstGeom>
          <a:noFill/>
          <a:ln w="3175">
            <a:solidFill>
              <a:schemeClr val="tx1"/>
            </a:solidFill>
          </a:ln>
        </p:spPr>
        <p:txBody>
          <a:bodyPr wrap="square" rtlCol="0">
            <a:spAutoFit/>
          </a:bodyPr>
          <a:lstStyle/>
          <a:p>
            <a:r>
              <a:rPr lang="en-US" sz="1200" dirty="0"/>
              <a:t>This dashboard is designed for:</a:t>
            </a:r>
          </a:p>
          <a:p>
            <a:pPr marL="171450" indent="-171450">
              <a:buFont typeface="Arial" panose="020B0604020202020204" pitchFamily="34" charset="0"/>
              <a:buChar char="•"/>
            </a:pPr>
            <a:r>
              <a:rPr lang="en-US" sz="1200" b="1" dirty="0"/>
              <a:t>City planners</a:t>
            </a:r>
            <a:r>
              <a:rPr lang="en-US" sz="1200" dirty="0"/>
              <a:t>: to identify peak risk times for road upgrades.</a:t>
            </a:r>
          </a:p>
          <a:p>
            <a:pPr marL="171450" indent="-171450">
              <a:buFont typeface="Arial" panose="020B0604020202020204" pitchFamily="34" charset="0"/>
              <a:buChar char="•"/>
            </a:pPr>
            <a:r>
              <a:rPr lang="en-US" sz="1200" b="1" dirty="0"/>
              <a:t>Police and traffic authorities</a:t>
            </a:r>
            <a:r>
              <a:rPr lang="en-US" sz="1200" dirty="0"/>
              <a:t>: to allocate enforcement efforts during high-risk periods.</a:t>
            </a:r>
          </a:p>
          <a:p>
            <a:pPr marL="171450" indent="-171450">
              <a:buFont typeface="Arial" panose="020B0604020202020204" pitchFamily="34" charset="0"/>
              <a:buChar char="•"/>
            </a:pPr>
            <a:r>
              <a:rPr lang="en-US" sz="1200" b="1" dirty="0"/>
              <a:t>Public safety analysts</a:t>
            </a:r>
            <a:r>
              <a:rPr lang="en-US" sz="1200" dirty="0"/>
              <a:t>: to monitor crash patterns and evaluate safety strategies.</a:t>
            </a:r>
          </a:p>
          <a:p>
            <a:r>
              <a:rPr lang="en-US" sz="1200" dirty="0"/>
              <a:t>By enabling interactive exploration of crash data, this tool supports </a:t>
            </a:r>
            <a:r>
              <a:rPr lang="en-US" sz="1200" b="1" dirty="0"/>
              <a:t>evidence-based decisions</a:t>
            </a:r>
            <a:r>
              <a:rPr lang="en-US" sz="1200" dirty="0"/>
              <a:t> to reduce crash severity and frequency</a:t>
            </a:r>
            <a:r>
              <a:rPr lang="en-US" dirty="0"/>
              <a:t>.</a:t>
            </a:r>
          </a:p>
        </p:txBody>
      </p:sp>
      <p:sp>
        <p:nvSpPr>
          <p:cNvPr id="24" name="TextBox 23">
            <a:extLst>
              <a:ext uri="{FF2B5EF4-FFF2-40B4-BE49-F238E27FC236}">
                <a16:creationId xmlns:a16="http://schemas.microsoft.com/office/drawing/2014/main" id="{9178B801-EF68-630E-F9F4-E3B9F5A5DD27}"/>
              </a:ext>
            </a:extLst>
          </p:cNvPr>
          <p:cNvSpPr txBox="1"/>
          <p:nvPr/>
        </p:nvSpPr>
        <p:spPr>
          <a:xfrm>
            <a:off x="4015612" y="7772008"/>
            <a:ext cx="4770374" cy="338554"/>
          </a:xfrm>
          <a:prstGeom prst="rect">
            <a:avLst/>
          </a:prstGeom>
          <a:solidFill>
            <a:schemeClr val="tx2">
              <a:lumMod val="25000"/>
              <a:lumOff val="75000"/>
            </a:schemeClr>
          </a:solidFill>
          <a:ln w="6350">
            <a:solidFill>
              <a:schemeClr val="tx1"/>
            </a:solidFill>
          </a:ln>
        </p:spPr>
        <p:txBody>
          <a:bodyPr wrap="square" rtlCol="0">
            <a:spAutoFit/>
          </a:bodyPr>
          <a:lstStyle/>
          <a:p>
            <a:pPr algn="ctr"/>
            <a:r>
              <a:rPr lang="en-US" sz="1600" b="1" dirty="0"/>
              <a:t>Tools &amp; Techniques</a:t>
            </a:r>
          </a:p>
        </p:txBody>
      </p:sp>
      <p:sp>
        <p:nvSpPr>
          <p:cNvPr id="25" name="TextBox 24">
            <a:extLst>
              <a:ext uri="{FF2B5EF4-FFF2-40B4-BE49-F238E27FC236}">
                <a16:creationId xmlns:a16="http://schemas.microsoft.com/office/drawing/2014/main" id="{F06A6674-BD7D-1DC6-2D0B-4638C1149876}"/>
              </a:ext>
            </a:extLst>
          </p:cNvPr>
          <p:cNvSpPr txBox="1"/>
          <p:nvPr/>
        </p:nvSpPr>
        <p:spPr>
          <a:xfrm>
            <a:off x="4015612" y="8158050"/>
            <a:ext cx="4770374" cy="1200329"/>
          </a:xfrm>
          <a:prstGeom prst="rect">
            <a:avLst/>
          </a:prstGeom>
          <a:noFill/>
          <a:ln w="3175">
            <a:solidFill>
              <a:schemeClr val="tx1"/>
            </a:solidFill>
          </a:ln>
        </p:spPr>
        <p:txBody>
          <a:bodyPr wrap="square" rtlCol="0">
            <a:spAutoFit/>
          </a:bodyPr>
          <a:lstStyle/>
          <a:p>
            <a:pPr marL="171450" indent="-171450">
              <a:buFont typeface="Arial" panose="020B0604020202020204" pitchFamily="34" charset="0"/>
              <a:buChar char="•"/>
            </a:pPr>
            <a:r>
              <a:rPr lang="en-US" sz="1200" b="1" dirty="0"/>
              <a:t>Power BI</a:t>
            </a:r>
            <a:r>
              <a:rPr lang="en-US" sz="1200" dirty="0"/>
              <a:t> for dashboard development</a:t>
            </a:r>
          </a:p>
          <a:p>
            <a:pPr marL="171450" indent="-171450">
              <a:buFont typeface="Arial" panose="020B0604020202020204" pitchFamily="34" charset="0"/>
              <a:buChar char="•"/>
            </a:pPr>
            <a:r>
              <a:rPr lang="en-US" sz="1200" b="1" dirty="0"/>
              <a:t>DAX</a:t>
            </a:r>
            <a:r>
              <a:rPr lang="en-US" sz="1200" dirty="0"/>
              <a:t> measures for KPIs (e.g., High Harm Rate, Peak Crash Hour)</a:t>
            </a:r>
          </a:p>
          <a:p>
            <a:pPr marL="171450" indent="-171450">
              <a:buFont typeface="Arial" panose="020B0604020202020204" pitchFamily="34" charset="0"/>
              <a:buChar char="•"/>
            </a:pPr>
            <a:r>
              <a:rPr lang="en-US" sz="1200" b="1" dirty="0"/>
              <a:t>Conditional formatting</a:t>
            </a:r>
            <a:r>
              <a:rPr lang="en-US" sz="1200" dirty="0"/>
              <a:t> for crash heatmaps</a:t>
            </a:r>
          </a:p>
          <a:p>
            <a:pPr marL="171450" indent="-171450">
              <a:buFont typeface="Arial" panose="020B0604020202020204" pitchFamily="34" charset="0"/>
              <a:buChar char="•"/>
            </a:pPr>
            <a:r>
              <a:rPr lang="en-US" sz="1200" b="1" dirty="0"/>
              <a:t>Built-in forecasting</a:t>
            </a:r>
            <a:r>
              <a:rPr lang="en-US" sz="1200" dirty="0"/>
              <a:t> for trend projections</a:t>
            </a:r>
          </a:p>
          <a:p>
            <a:r>
              <a:rPr lang="en-US" sz="1200" dirty="0"/>
              <a:t>Data wrangling and variable engineering (e.g., crash hour, </a:t>
            </a:r>
            <a:r>
              <a:rPr lang="en-US" sz="1200" dirty="0" err="1"/>
              <a:t>is_night</a:t>
            </a:r>
            <a:r>
              <a:rPr lang="en-US" sz="1200" dirty="0"/>
              <a:t>, severity levels) were performed in R and then exported to Power BI.</a:t>
            </a:r>
          </a:p>
        </p:txBody>
      </p:sp>
      <p:sp>
        <p:nvSpPr>
          <p:cNvPr id="26" name="TextBox 25">
            <a:extLst>
              <a:ext uri="{FF2B5EF4-FFF2-40B4-BE49-F238E27FC236}">
                <a16:creationId xmlns:a16="http://schemas.microsoft.com/office/drawing/2014/main" id="{43C1B062-0051-DDE7-A09C-AC5EB6B2876E}"/>
              </a:ext>
            </a:extLst>
          </p:cNvPr>
          <p:cNvSpPr txBox="1"/>
          <p:nvPr/>
        </p:nvSpPr>
        <p:spPr>
          <a:xfrm>
            <a:off x="8875071" y="3601288"/>
            <a:ext cx="3857701" cy="338554"/>
          </a:xfrm>
          <a:prstGeom prst="rect">
            <a:avLst/>
          </a:prstGeom>
          <a:solidFill>
            <a:schemeClr val="tx2">
              <a:lumMod val="25000"/>
              <a:lumOff val="75000"/>
            </a:schemeClr>
          </a:solidFill>
          <a:ln w="6350">
            <a:solidFill>
              <a:schemeClr val="tx1"/>
            </a:solidFill>
          </a:ln>
        </p:spPr>
        <p:txBody>
          <a:bodyPr wrap="square" rtlCol="0">
            <a:spAutoFit/>
          </a:bodyPr>
          <a:lstStyle/>
          <a:p>
            <a:pPr algn="ctr"/>
            <a:r>
              <a:rPr lang="en-US" sz="1600" b="1" dirty="0"/>
              <a:t>Evaluation &amp; Benefits</a:t>
            </a:r>
          </a:p>
        </p:txBody>
      </p:sp>
      <p:sp>
        <p:nvSpPr>
          <p:cNvPr id="27" name="TextBox 26">
            <a:extLst>
              <a:ext uri="{FF2B5EF4-FFF2-40B4-BE49-F238E27FC236}">
                <a16:creationId xmlns:a16="http://schemas.microsoft.com/office/drawing/2014/main" id="{7C9EBD34-DED0-1327-E46C-7F7E5C6B5954}"/>
              </a:ext>
            </a:extLst>
          </p:cNvPr>
          <p:cNvSpPr txBox="1"/>
          <p:nvPr/>
        </p:nvSpPr>
        <p:spPr>
          <a:xfrm>
            <a:off x="8875071" y="3990957"/>
            <a:ext cx="3847871" cy="2123658"/>
          </a:xfrm>
          <a:prstGeom prst="rect">
            <a:avLst/>
          </a:prstGeom>
          <a:noFill/>
          <a:ln w="3175">
            <a:solidFill>
              <a:schemeClr val="tx1"/>
            </a:solidFill>
          </a:ln>
        </p:spPr>
        <p:txBody>
          <a:bodyPr wrap="square" rtlCol="0">
            <a:spAutoFit/>
          </a:bodyPr>
          <a:lstStyle/>
          <a:p>
            <a:pPr marL="171450" indent="-171450">
              <a:buFont typeface="Arial" panose="020B0604020202020204" pitchFamily="34" charset="0"/>
              <a:buChar char="•"/>
            </a:pPr>
            <a:r>
              <a:rPr lang="en-US" sz="1200" dirty="0"/>
              <a:t>The dashboard helps visually isolate </a:t>
            </a:r>
            <a:r>
              <a:rPr lang="en-US" sz="1200" b="1" dirty="0"/>
              <a:t>high-risk conditions</a:t>
            </a:r>
            <a:r>
              <a:rPr lang="en-US" sz="1200" dirty="0"/>
              <a:t> (wet, night, weekends).</a:t>
            </a:r>
          </a:p>
          <a:p>
            <a:pPr marL="171450" indent="-171450">
              <a:buFont typeface="Arial" panose="020B0604020202020204" pitchFamily="34" charset="0"/>
              <a:buChar char="•"/>
            </a:pPr>
            <a:r>
              <a:rPr lang="en-US" sz="1200" dirty="0"/>
              <a:t>Forecasting highlights upcoming trends in crash frequency.</a:t>
            </a:r>
          </a:p>
          <a:p>
            <a:pPr marL="171450" indent="-171450">
              <a:buFont typeface="Arial" panose="020B0604020202020204" pitchFamily="34" charset="0"/>
              <a:buChar char="•"/>
            </a:pPr>
            <a:r>
              <a:rPr lang="en-US" sz="1200" dirty="0"/>
              <a:t>Interactivity empowers stakeholders to </a:t>
            </a:r>
            <a:r>
              <a:rPr lang="en-US" sz="1200" b="1" dirty="0"/>
              <a:t>filter and target specific scenarios</a:t>
            </a:r>
            <a:r>
              <a:rPr lang="en-US" sz="1200" dirty="0"/>
              <a:t>.</a:t>
            </a:r>
          </a:p>
          <a:p>
            <a:r>
              <a:rPr lang="en-US" sz="1200" b="1" dirty="0"/>
              <a:t>Shortcomings</a:t>
            </a:r>
            <a:r>
              <a:rPr lang="en-US" sz="1200" dirty="0"/>
              <a:t>:</a:t>
            </a:r>
          </a:p>
          <a:p>
            <a:pPr marL="171450" indent="-171450">
              <a:buFont typeface="Arial" panose="020B0604020202020204" pitchFamily="34" charset="0"/>
              <a:buChar char="•"/>
            </a:pPr>
            <a:r>
              <a:rPr lang="en-US" sz="1200" dirty="0"/>
              <a:t>Location-based visuals are not included due to missing geospatial data.</a:t>
            </a:r>
          </a:p>
          <a:p>
            <a:pPr marL="171450" indent="-171450">
              <a:buFont typeface="Arial" panose="020B0604020202020204" pitchFamily="34" charset="0"/>
              <a:buChar char="•"/>
            </a:pPr>
            <a:r>
              <a:rPr lang="en-US" sz="1200" dirty="0"/>
              <a:t>Machine learning-based predictions were not deployed inside the dashboard (done separately).</a:t>
            </a:r>
          </a:p>
        </p:txBody>
      </p:sp>
      <p:sp>
        <p:nvSpPr>
          <p:cNvPr id="28" name="TextBox 27">
            <a:extLst>
              <a:ext uri="{FF2B5EF4-FFF2-40B4-BE49-F238E27FC236}">
                <a16:creationId xmlns:a16="http://schemas.microsoft.com/office/drawing/2014/main" id="{9A28791C-13E4-DDBE-8BA8-03F605837CFA}"/>
              </a:ext>
            </a:extLst>
          </p:cNvPr>
          <p:cNvSpPr txBox="1"/>
          <p:nvPr/>
        </p:nvSpPr>
        <p:spPr>
          <a:xfrm>
            <a:off x="8870155" y="6165730"/>
            <a:ext cx="3857701" cy="338554"/>
          </a:xfrm>
          <a:prstGeom prst="rect">
            <a:avLst/>
          </a:prstGeom>
          <a:solidFill>
            <a:schemeClr val="tx2">
              <a:lumMod val="25000"/>
              <a:lumOff val="75000"/>
            </a:schemeClr>
          </a:solidFill>
          <a:ln w="6350">
            <a:solidFill>
              <a:schemeClr val="tx1"/>
            </a:solidFill>
          </a:ln>
        </p:spPr>
        <p:txBody>
          <a:bodyPr wrap="square" rtlCol="0">
            <a:spAutoFit/>
          </a:bodyPr>
          <a:lstStyle/>
          <a:p>
            <a:pPr algn="ctr"/>
            <a:r>
              <a:rPr lang="en-US" sz="1600" b="1" dirty="0"/>
              <a:t>Future Directions</a:t>
            </a:r>
          </a:p>
        </p:txBody>
      </p:sp>
      <p:sp>
        <p:nvSpPr>
          <p:cNvPr id="29" name="TextBox 28">
            <a:extLst>
              <a:ext uri="{FF2B5EF4-FFF2-40B4-BE49-F238E27FC236}">
                <a16:creationId xmlns:a16="http://schemas.microsoft.com/office/drawing/2014/main" id="{E5C468E7-777D-2816-7CBD-462C4B4E45CB}"/>
              </a:ext>
            </a:extLst>
          </p:cNvPr>
          <p:cNvSpPr txBox="1"/>
          <p:nvPr/>
        </p:nvSpPr>
        <p:spPr>
          <a:xfrm>
            <a:off x="8865238" y="6551772"/>
            <a:ext cx="3852787" cy="1015663"/>
          </a:xfrm>
          <a:prstGeom prst="rect">
            <a:avLst/>
          </a:prstGeom>
          <a:noFill/>
          <a:ln w="3175">
            <a:solidFill>
              <a:schemeClr val="tx1"/>
            </a:solidFill>
          </a:ln>
        </p:spPr>
        <p:txBody>
          <a:bodyPr wrap="square" rtlCol="0">
            <a:spAutoFit/>
          </a:bodyPr>
          <a:lstStyle/>
          <a:p>
            <a:pPr marL="171450" indent="-171450">
              <a:buFont typeface="Arial" panose="020B0604020202020204" pitchFamily="34" charset="0"/>
              <a:buChar char="•"/>
            </a:pPr>
            <a:r>
              <a:rPr lang="en-US" sz="1200" dirty="0"/>
              <a:t>Integrate geolocation data for spatial crash maps.</a:t>
            </a:r>
          </a:p>
          <a:p>
            <a:pPr marL="171450" indent="-171450">
              <a:buFont typeface="Arial" panose="020B0604020202020204" pitchFamily="34" charset="0"/>
              <a:buChar char="•"/>
            </a:pPr>
            <a:r>
              <a:rPr lang="en-US" sz="1200" dirty="0"/>
              <a:t>Embed R or Python visuals for live ML-based risk scoring.</a:t>
            </a:r>
          </a:p>
          <a:p>
            <a:pPr marL="171450" indent="-171450">
              <a:buFont typeface="Arial" panose="020B0604020202020204" pitchFamily="34" charset="0"/>
              <a:buChar char="•"/>
            </a:pPr>
            <a:r>
              <a:rPr lang="en-US" sz="1200" dirty="0"/>
              <a:t>Connect to real-time crash feeds for dynamic monitoring.</a:t>
            </a:r>
          </a:p>
        </p:txBody>
      </p:sp>
      <p:sp>
        <p:nvSpPr>
          <p:cNvPr id="30" name="TextBox 29">
            <a:extLst>
              <a:ext uri="{FF2B5EF4-FFF2-40B4-BE49-F238E27FC236}">
                <a16:creationId xmlns:a16="http://schemas.microsoft.com/office/drawing/2014/main" id="{3453A52D-FDA6-FB63-9B02-DEDB50555681}"/>
              </a:ext>
            </a:extLst>
          </p:cNvPr>
          <p:cNvSpPr txBox="1"/>
          <p:nvPr/>
        </p:nvSpPr>
        <p:spPr>
          <a:xfrm>
            <a:off x="8847573" y="7762896"/>
            <a:ext cx="3880283" cy="1754326"/>
          </a:xfrm>
          <a:prstGeom prst="rect">
            <a:avLst/>
          </a:prstGeom>
          <a:noFill/>
        </p:spPr>
        <p:txBody>
          <a:bodyPr wrap="square" rtlCol="0">
            <a:spAutoFit/>
          </a:bodyPr>
          <a:lstStyle/>
          <a:p>
            <a:r>
              <a:rPr lang="en-US" sz="1200" dirty="0"/>
              <a:t>References:</a:t>
            </a:r>
          </a:p>
          <a:p>
            <a:r>
              <a:rPr lang="en-US" sz="1200" dirty="0" err="1"/>
              <a:t>Ördekçi</a:t>
            </a:r>
            <a:r>
              <a:rPr lang="en-US" sz="1200" dirty="0"/>
              <a:t>, O. (2025). </a:t>
            </a:r>
            <a:r>
              <a:rPr lang="en-US" sz="1200" i="1" dirty="0"/>
              <a:t>Traffic Accidents</a:t>
            </a:r>
            <a:r>
              <a:rPr lang="en-US" sz="1200" dirty="0"/>
              <a:t>. </a:t>
            </a:r>
            <a:r>
              <a:rPr lang="en-US" sz="1200" dirty="0">
                <a:hlinkClick r:id="rId3"/>
              </a:rPr>
              <a:t>https://www.kaggle.com/datasets/oktayrdeki/traffic-accidents</a:t>
            </a:r>
            <a:r>
              <a:rPr lang="en-US" sz="1200" dirty="0"/>
              <a:t>.</a:t>
            </a:r>
          </a:p>
          <a:p>
            <a:r>
              <a:rPr lang="en-US" sz="1200" dirty="0"/>
              <a:t>Wellington, G. (2021). </a:t>
            </a:r>
            <a:r>
              <a:rPr lang="en-US" sz="1200" i="1" dirty="0"/>
              <a:t>Wellington regional land </a:t>
            </a:r>
            <a:r>
              <a:rPr lang="en-US" sz="1200" i="1" dirty="0" err="1"/>
              <a:t>transprt</a:t>
            </a:r>
            <a:r>
              <a:rPr lang="en-US" sz="1200" i="1" dirty="0"/>
              <a:t> plan</a:t>
            </a:r>
            <a:r>
              <a:rPr lang="en-US" sz="1200" dirty="0"/>
              <a:t>.  Retrieved from https://</a:t>
            </a:r>
            <a:r>
              <a:rPr lang="en-US" sz="1200" dirty="0" err="1"/>
              <a:t>www.gw.govt.nz</a:t>
            </a:r>
            <a:r>
              <a:rPr lang="en-US" sz="1200" dirty="0"/>
              <a:t>/assets/Documents/2021/10/Wellington-Regional-Land-Transport-Plan-2021web.pdf?utm_source=</a:t>
            </a:r>
            <a:r>
              <a:rPr lang="en-US" sz="1200" dirty="0" err="1"/>
              <a:t>chatgpt.com</a:t>
            </a:r>
            <a:r>
              <a:rPr lang="en-US" sz="1200" dirty="0"/>
              <a:t>.</a:t>
            </a:r>
          </a:p>
        </p:txBody>
      </p:sp>
    </p:spTree>
    <p:extLst>
      <p:ext uri="{BB962C8B-B14F-4D97-AF65-F5344CB8AC3E}">
        <p14:creationId xmlns:p14="http://schemas.microsoft.com/office/powerpoint/2010/main" val="4358064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128</TotalTime>
  <Words>704</Words>
  <Application>Microsoft Macintosh PowerPoint</Application>
  <PresentationFormat>A3 Paper (297x420 mm)</PresentationFormat>
  <Paragraphs>59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 Unicode MS</vt:lpstr>
      <vt:lpstr>Aptos</vt:lpstr>
      <vt:lpstr>Aptos Display</vt:lpstr>
      <vt:lpstr>Arial</vt:lpstr>
      <vt:lpstr>Office Theme</vt:lpstr>
      <vt:lpstr>Road Crash Insights Dashboard – Enhancing Road Safety with Data-Driven Decisions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Athapattu Dissanayakage Savith Rangana</dc:creator>
  <cp:lastModifiedBy>Athapattu Dissanayakage Savith Rangana</cp:lastModifiedBy>
  <cp:revision>4</cp:revision>
  <dcterms:created xsi:type="dcterms:W3CDTF">2025-06-17T03:34:51Z</dcterms:created>
  <dcterms:modified xsi:type="dcterms:W3CDTF">2025-06-17T05:50:48Z</dcterms:modified>
</cp:coreProperties>
</file>